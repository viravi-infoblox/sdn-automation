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SDN Agent Workflow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End-to-End OpenAPI-Driven Collection Pipeline</a:t>
            </a:r>
          </a:p>
          <a:p>
            <a:pPr>
              <a:defRPr sz="1600"/>
            </a:pPr>
            <a:r>
              <a:t>- Team Presentation Deck</a:t>
            </a:r>
          </a:p>
          <a:p>
            <a:pPr>
              <a:defRPr sz="1600"/>
            </a:pPr>
            <a:r>
              <a:t>- Date: 19 March 2026</a:t>
            </a:r>
          </a:p>
          <a:p>
            <a:pPr>
              <a:defRPr sz="1600"/>
            </a:pPr>
            <a:r>
              <a:t>- Scope: Mist case, reusable for all SDN vendors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1) Why This Agent Exists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Problem</a:t>
            </a:r>
          </a:p>
          <a:p>
            <a:pPr>
              <a:defRPr sz="1600"/>
            </a:pPr>
            <a:r>
              <a:t>- Vendor SDN APIs evolve quickly.</a:t>
            </a:r>
          </a:p>
          <a:p>
            <a:pPr>
              <a:defRPr sz="1600"/>
            </a:pPr>
            <a:r>
              <a:t>- Hand-written controller/client code is expensive to maintain.</a:t>
            </a:r>
          </a:p>
          <a:p>
            <a:pPr>
              <a:defRPr sz="1600"/>
            </a:pPr>
            <a:r>
              <a:t>- Mapping plugins to APIs is hard to scale across vendors.</a:t>
            </a:r>
          </a:p>
          <a:p>
            <a:pPr>
              <a:defRPr sz="1600"/>
            </a:pPr>
            <a:r>
              <a:t>- Goal</a:t>
            </a:r>
          </a:p>
          <a:p>
            <a:pPr>
              <a:defRPr sz="1600"/>
            </a:pPr>
            <a:r>
              <a:t>- Convert OpenAPI + reviewed payload into production-aligned Perl modules.</a:t>
            </a:r>
          </a:p>
          <a:p>
            <a:pPr>
              <a:defRPr sz="1600"/>
            </a:pPr>
            <a:r>
              <a:t>- Keep review and generation explicit, auditable, and repeatable.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2) High-Level Architecture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Core Components</a:t>
            </a:r>
          </a:p>
          <a:p>
            <a:pPr>
              <a:defRPr sz="1600"/>
            </a:pPr>
            <a:r>
              <a:t>- OpenAPI input: vendor API definitions.</a:t>
            </a:r>
          </a:p>
          <a:p>
            <a:pPr>
              <a:defRPr sz="1600"/>
            </a:pPr>
            <a:r>
              <a:t>- Payload contract: reviewed API-to-plugin mapping.</a:t>
            </a:r>
          </a:p>
          <a:p>
            <a:pPr>
              <a:defRPr sz="1600"/>
            </a:pPr>
            <a:r>
              <a:t>- Code generator: creates Client and SDN controller modules.</a:t>
            </a:r>
          </a:p>
          <a:p>
            <a:pPr>
              <a:defRPr sz="1600"/>
            </a:pPr>
            <a:r>
              <a:t>- Production plugin framework: transforms and persists datasets.</a:t>
            </a:r>
          </a:p>
          <a:p>
            <a:pPr>
              <a:defRPr sz="1600"/>
            </a:pPr>
            <a:r>
              <a:t>- Key Principle</a:t>
            </a:r>
          </a:p>
          <a:p>
            <a:pPr>
              <a:defRPr sz="1600"/>
            </a:pPr>
            <a:r>
              <a:t>- Separate mapping decisions from code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3) Repository Map (Relevant Paths)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OpenAPI specs:</a:t>
            </a:r>
          </a:p>
          <a:p>
            <a:pPr>
              <a:defRPr sz="1600"/>
            </a:pPr>
            <a:r>
              <a:t>- - mist.openapi.json</a:t>
            </a:r>
          </a:p>
          <a:p>
            <a:pPr>
              <a:defRPr sz="1600"/>
            </a:pPr>
            <a:r>
              <a:t>- - Meraki-OpenAPI.json</a:t>
            </a:r>
          </a:p>
          <a:p>
            <a:pPr>
              <a:defRPr sz="1600"/>
            </a:pPr>
            <a:r>
              <a:t>- Payloads:</a:t>
            </a:r>
          </a:p>
          <a:p>
            <a:pPr>
              <a:defRPr sz="1600"/>
            </a:pPr>
            <a:r>
              <a:t>- - Payloads/Mist-Payload.json</a:t>
            </a:r>
          </a:p>
          <a:p>
            <a:pPr>
              <a:defRPr sz="1600"/>
            </a:pPr>
            <a:r>
              <a:t>- Production modules:</a:t>
            </a:r>
          </a:p>
          <a:p>
            <a:pPr>
              <a:defRPr sz="1600"/>
            </a:pPr>
            <a:r>
              <a:t>- - Client/Mist.pm</a:t>
            </a:r>
          </a:p>
          <a:p>
            <a:pPr>
              <a:defRPr sz="1600"/>
            </a:pPr>
            <a:r>
              <a:t>- - SDN/Mist.pm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4) Two-Phase Workflow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Phase 1: Payload Generation</a:t>
            </a:r>
          </a:p>
          <a:p>
            <a:pPr>
              <a:defRPr sz="1600"/>
            </a:pPr>
            <a:r>
              <a:t>- Input: OpenAPI source + vendor.</a:t>
            </a:r>
          </a:p>
          <a:p>
            <a:pPr>
              <a:defRPr sz="1600"/>
            </a:pPr>
            <a:r>
              <a:t>- Output: Payload JSON with candidate API mappings.</a:t>
            </a:r>
          </a:p>
          <a:p>
            <a:pPr>
              <a:defRPr sz="1600"/>
            </a:pPr>
            <a:r>
              <a:t>- Phase 2: Module Generation</a:t>
            </a:r>
          </a:p>
          <a:p>
            <a:pPr>
              <a:defRPr sz="1600"/>
            </a:pPr>
            <a:r>
              <a:t>- Input: reviewed payload JSON.</a:t>
            </a:r>
          </a:p>
          <a:p>
            <a:pPr>
              <a:defRPr sz="1600"/>
            </a:pPr>
            <a:r>
              <a:t>- Output:</a:t>
            </a:r>
          </a:p>
          <a:p>
            <a:pPr>
              <a:defRPr sz="1600"/>
            </a:pPr>
            <a:r>
              <a:t>- - Output/Client/&lt;Vendor&gt;.pm</a:t>
            </a:r>
          </a:p>
          <a:p>
            <a:pPr>
              <a:defRPr sz="1600"/>
            </a:pPr>
            <a:r>
              <a:t>- - Output/SDN/&lt;Vendor&gt;.pm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5) Payload Contract Essentials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Top-Level Fields</a:t>
            </a:r>
          </a:p>
          <a:p>
            <a:pPr>
              <a:defRPr sz="1600"/>
            </a:pPr>
            <a:r>
              <a:t>- vendor</a:t>
            </a:r>
          </a:p>
          <a:p>
            <a:pPr>
              <a:defRPr sz="1600"/>
            </a:pPr>
            <a:r>
              <a:t>- pluginCalls</a:t>
            </a:r>
          </a:p>
          <a:p>
            <a:pPr>
              <a:defRPr sz="1600"/>
            </a:pPr>
            <a:r>
              <a:t>- manualReview</a:t>
            </a:r>
          </a:p>
          <a:p>
            <a:pPr>
              <a:defRPr sz="1600"/>
            </a:pPr>
            <a:r>
              <a:t>- reviewQueue</a:t>
            </a:r>
          </a:p>
          <a:p>
            <a:pPr>
              <a:defRPr sz="1600"/>
            </a:pPr>
            <a:r>
              <a:t>- stats</a:t>
            </a:r>
          </a:p>
          <a:p>
            <a:pPr>
              <a:defRPr sz="1600"/>
            </a:pPr>
            <a:r>
              <a:t>- collectionPlan</a:t>
            </a:r>
          </a:p>
          <a:p>
            <a:pPr>
              <a:defRPr sz="1600"/>
            </a:pPr>
            <a:r>
              <a:t>- pluginCalls (Important Fields)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6) Review Semantics (Critical)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What We Learned</a:t>
            </a:r>
          </a:p>
          <a:p>
            <a:pPr>
              <a:defRPr sz="1600"/>
            </a:pPr>
            <a:r>
              <a:t>- Rejected calls may appear as:</a:t>
            </a:r>
          </a:p>
          <a:p>
            <a:pPr>
              <a:defRPr sz="1600"/>
            </a:pPr>
            <a:r>
              <a:t>- - review.action: Remove/Reject</a:t>
            </a:r>
          </a:p>
          <a:p>
            <a:pPr>
              <a:defRPr sz="1600"/>
            </a:pPr>
            <a:r>
              <a:t>- - review.status: Rejected</a:t>
            </a:r>
          </a:p>
          <a:p>
            <a:pPr>
              <a:defRPr sz="1600"/>
            </a:pPr>
            <a:r>
              <a:t>- Generator Fix Implemented</a:t>
            </a:r>
          </a:p>
          <a:p>
            <a:pPr>
              <a:defRPr sz="1600"/>
            </a:pPr>
            <a:r>
              <a:t>- Calls are excluded if review indicates drop/remove/reject/rejected.</a:t>
            </a:r>
          </a:p>
          <a:p>
            <a:pPr>
              <a:defRPr sz="1600"/>
            </a:pPr>
            <a:r>
              <a:t>- This now works consistently for payload-driven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7) Mist Payload Example (Approved Set)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Approved Operations (Current)</a:t>
            </a:r>
          </a:p>
          <a:p>
            <a:pPr>
              <a:defRPr sz="1600"/>
            </a:pPr>
            <a:r>
              <a:t>- listInstallerSites</a:t>
            </a:r>
          </a:p>
          <a:p>
            <a:pPr>
              <a:defRPr sz="1600"/>
            </a:pPr>
            <a:r>
              <a:t>- getSiteWirelessClientStats</a:t>
            </a:r>
          </a:p>
          <a:p>
            <a:pPr>
              <a:defRPr sz="1600"/>
            </a:pPr>
            <a:r>
              <a:t>- countOrgSwOrGwPorts</a:t>
            </a:r>
          </a:p>
          <a:p>
            <a:pPr>
              <a:defRPr sz="1600"/>
            </a:pPr>
            <a:r>
              <a:t>- getOrgInventory</a:t>
            </a:r>
          </a:p>
          <a:p>
            <a:pPr>
              <a:defRPr sz="1600"/>
            </a:pPr>
            <a:r>
              <a:t>- countOrgWirelessClientsSessions</a:t>
            </a:r>
          </a:p>
          <a:p>
            <a:pPr>
              <a:defRPr sz="1600"/>
            </a:pPr>
            <a:r>
              <a:t>- getSiteAllClientsStatsByDevice</a:t>
            </a:r>
          </a:p>
          <a:p>
            <a:pPr>
              <a:defRPr sz="1600"/>
            </a:pPr>
            <a:r>
              <a:t>- Rejected Calls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8) Generated Client Module Strategy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Client Responsibilities</a:t>
            </a:r>
          </a:p>
          <a:p>
            <a:pPr>
              <a:defRPr sz="1600"/>
            </a:pPr>
            <a:r>
              <a:t>- Auth + base URL wiring.</a:t>
            </a:r>
          </a:p>
          <a:p>
            <a:pPr>
              <a:defRPr sz="1600"/>
            </a:pPr>
            <a:r>
              <a:t>- Operation methods for approved payload calls.</a:t>
            </a:r>
          </a:p>
          <a:p>
            <a:pPr>
              <a:defRPr sz="1600"/>
            </a:pPr>
            <a:r>
              <a:t>- Path parameter substitution.</a:t>
            </a:r>
          </a:p>
          <a:p>
            <a:pPr>
              <a:defRPr sz="1600"/>
            </a:pPr>
            <a:r>
              <a:t>- Request dispatch through Generic client.</a:t>
            </a:r>
          </a:p>
          <a:p>
            <a:pPr>
              <a:defRPr sz="1600"/>
            </a:pPr>
            <a:r>
              <a:t>- Improvement Implemented</a:t>
            </a:r>
          </a:p>
          <a:p>
            <a:pPr>
              <a:defRPr sz="1600"/>
            </a:pPr>
            <a:r>
              <a:t>- Path params are required only if placeholders exist in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9) Controller Generation: Old vs New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Before</a:t>
            </a:r>
          </a:p>
          <a:p>
            <a:pPr>
              <a:defRPr sz="1600"/>
            </a:pPr>
            <a:r>
              <a:t>- Thin API proxy methods only.</a:t>
            </a:r>
          </a:p>
          <a:p>
            <a:pPr>
              <a:defRPr sz="1600"/>
            </a:pPr>
            <a:r>
              <a:t>- No collection orchestration.</a:t>
            </a:r>
          </a:p>
          <a:p>
            <a:pPr>
              <a:defRPr sz="1600"/>
            </a:pPr>
            <a:r>
              <a:t>- No dataset save scaffolding.</a:t>
            </a:r>
          </a:p>
          <a:p>
            <a:pPr>
              <a:defRPr sz="1600"/>
            </a:pPr>
            <a:r>
              <a:t>- Now</a:t>
            </a:r>
          </a:p>
          <a:p>
            <a:pPr>
              <a:defRPr sz="1600"/>
            </a:pPr>
            <a:r>
              <a:t>- Production-style controller skeleton:</a:t>
            </a:r>
          </a:p>
          <a:p>
            <a:pPr>
              <a:defRPr sz="1600"/>
            </a:pPr>
            <a:r>
              <a:t>- - obtainEverything</a:t>
            </a:r>
          </a:p>
          <a:p>
            <a:pPr>
              <a:defRPr sz="1600"/>
            </a:pPr>
            <a:r>
              <a:t>- - loadSdnDevices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10) Controller Scaffolding (Current)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Generated Collection Methods</a:t>
            </a:r>
          </a:p>
          <a:p>
            <a:pPr>
              <a:defRPr sz="1600"/>
            </a:pPr>
            <a:r>
              <a:t>- obtainOrganizationsAndNetworks</a:t>
            </a:r>
          </a:p>
          <a:p>
            <a:pPr>
              <a:defRPr sz="1600"/>
            </a:pPr>
            <a:r>
              <a:t>- getDevices</a:t>
            </a:r>
          </a:p>
          <a:p>
            <a:pPr>
              <a:defRPr sz="1600"/>
            </a:pPr>
            <a:r>
              <a:t>- obtainSystemInfo</a:t>
            </a:r>
          </a:p>
          <a:p>
            <a:pPr>
              <a:defRPr sz="1600"/>
            </a:pPr>
            <a:r>
              <a:t>- obtainPerformance</a:t>
            </a:r>
          </a:p>
          <a:p>
            <a:pPr>
              <a:defRPr sz="1600"/>
            </a:pPr>
            <a:r>
              <a:t>- obtainEnvironment</a:t>
            </a:r>
          </a:p>
          <a:p>
            <a:pPr>
              <a:defRPr sz="1600"/>
            </a:pPr>
            <a:r>
              <a:t>- obtainInterfaces</a:t>
            </a:r>
          </a:p>
          <a:p>
            <a:pPr>
              <a:defRPr sz="1600"/>
            </a:pPr>
            <a:r>
              <a:t>- obtainTopologyAndEndpoints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11) Smarter Context Scaffolding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New Context Helpers</a:t>
            </a:r>
          </a:p>
          <a:p>
            <a:pPr>
              <a:defRPr sz="1600"/>
            </a:pPr>
            <a:r>
              <a:t>- _generated_organizations()</a:t>
            </a:r>
          </a:p>
          <a:p>
            <a:pPr>
              <a:defRPr sz="1600"/>
            </a:pPr>
            <a:r>
              <a:t>- _generated_networks()</a:t>
            </a:r>
          </a:p>
          <a:p>
            <a:pPr>
              <a:defRPr sz="1600"/>
            </a:pPr>
            <a:r>
              <a:t>- _generated_extract_dn_context()</a:t>
            </a:r>
          </a:p>
          <a:p>
            <a:pPr>
              <a:defRPr sz="1600"/>
            </a:pPr>
            <a:r>
              <a:t>- _generated_api_args_from_organization()</a:t>
            </a:r>
          </a:p>
          <a:p>
            <a:pPr>
              <a:defRPr sz="1600"/>
            </a:pPr>
            <a:r>
              <a:t>- _generated_api_args_from_network()</a:t>
            </a:r>
          </a:p>
          <a:p>
            <a:pPr>
              <a:defRPr sz="1600"/>
            </a:pPr>
            <a:r>
              <a:t>- _generated_api_args_from_device()</a:t>
            </a:r>
          </a:p>
          <a:p>
            <a:pPr>
              <a:defRPr sz="1600"/>
            </a:pPr>
            <a:r>
              <a:t>- Impact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12) Production Alignment Pattern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Production Controllers (Reference)</a:t>
            </a:r>
          </a:p>
          <a:p>
            <a:pPr>
              <a:defRPr sz="1600"/>
            </a:pPr>
            <a:r>
              <a:t>- SDN/Mist.pm</a:t>
            </a:r>
          </a:p>
          <a:p>
            <a:pPr>
              <a:defRPr sz="1600"/>
            </a:pPr>
            <a:r>
              <a:t>- SDN/Meraki.pm</a:t>
            </a:r>
          </a:p>
          <a:p>
            <a:pPr>
              <a:defRPr sz="1600"/>
            </a:pPr>
            <a:r>
              <a:t>- SDN/Viptela.pm</a:t>
            </a:r>
          </a:p>
          <a:p>
            <a:pPr>
              <a:defRPr sz="1600"/>
            </a:pPr>
            <a:r>
              <a:t>- Alignment Goals</a:t>
            </a:r>
          </a:p>
          <a:p>
            <a:pPr>
              <a:defRPr sz="1600"/>
            </a:pPr>
            <a:r>
              <a:t>- Keep Base framework behavior intact.</a:t>
            </a:r>
          </a:p>
          <a:p>
            <a:pPr>
              <a:defRPr sz="1600"/>
            </a:pPr>
            <a:r>
              <a:t>- Keep orchestration in controller layer.</a:t>
            </a:r>
          </a:p>
          <a:p>
            <a:pPr>
              <a:defRPr sz="1600"/>
            </a:pPr>
            <a:r>
              <a:t>- Keep API details in client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13) End-to-End Command Flow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Generate from reviewed payload</a:t>
            </a:r>
          </a:p>
          <a:p>
            <a:pPr>
              <a:defRPr sz="1600"/>
            </a:pPr>
            <a:r>
              <a:t>- /usr/local/bin/python3 tools/openapi_codegen/bin/generate_sdn_vendor_from_openapi.py --vendor Mist --payload-input Payloads/Mist-Payload.json --root .</a:t>
            </a:r>
          </a:p>
          <a:p>
            <a:pPr>
              <a:defRPr sz="1600"/>
            </a:pPr>
            <a:r>
              <a:t>- Outputs</a:t>
            </a:r>
          </a:p>
          <a:p>
            <a:pPr>
              <a:defRPr sz="1600"/>
            </a:pPr>
            <a:r>
              <a:t>- Output/Client/Mist.pm</a:t>
            </a:r>
          </a:p>
          <a:p>
            <a:pPr>
              <a:defRPr sz="1600"/>
            </a:pPr>
            <a:r>
              <a:t>- Output/SDN/Mist.pm</a:t>
            </a:r>
          </a:p>
          <a:p>
            <a:pPr>
              <a:defRPr sz="1600"/>
            </a:pPr>
            <a:r>
              <a:t>- Validation</a:t>
            </a:r>
          </a:p>
          <a:p>
            <a:pPr>
              <a:defRPr sz="1600"/>
            </a:pPr>
            <a:r>
              <a:t>- Parse/lint checks in editor problems.</a:t>
            </a:r>
          </a:p>
          <a:p>
            <a:pPr>
              <a:defRPr sz="1600"/>
            </a:pPr>
            <a:r>
              <a:t>- Manual comparison against production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14) Quality Controls in Workflow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Guardrails</a:t>
            </a:r>
          </a:p>
          <a:p>
            <a:pPr>
              <a:defRPr sz="1600"/>
            </a:pPr>
            <a:r>
              <a:t>- Reviewed payload is the source of truth.</a:t>
            </a:r>
          </a:p>
          <a:p>
            <a:pPr>
              <a:defRPr sz="1600"/>
            </a:pPr>
            <a:r>
              <a:t>- Rejected APIs are auto-excluded.</a:t>
            </a:r>
          </a:p>
          <a:p>
            <a:pPr>
              <a:defRPr sz="1600"/>
            </a:pPr>
            <a:r>
              <a:t>- Disabled calls are ignored.</a:t>
            </a:r>
          </a:p>
          <a:p>
            <a:pPr>
              <a:defRPr sz="1600"/>
            </a:pPr>
            <a:r>
              <a:t>- Approved calls are deduplicated by operationId.</a:t>
            </a:r>
          </a:p>
          <a:p>
            <a:pPr>
              <a:defRPr sz="1600"/>
            </a:pPr>
            <a:r>
              <a:t>- Engineering Review Points</a:t>
            </a:r>
          </a:p>
          <a:p>
            <a:pPr>
              <a:defRPr sz="1600"/>
            </a:pPr>
            <a:r>
              <a:t>- Operation coverage vs plugin expectations.</a:t>
            </a:r>
          </a:p>
          <a:p>
            <a:pPr>
              <a:defRPr sz="1600"/>
            </a:pPr>
            <a:r>
              <a:t>- Dataset transform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15) Current Status (Mist)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Completed</a:t>
            </a:r>
          </a:p>
          <a:p>
            <a:pPr>
              <a:defRPr sz="1600"/>
            </a:pPr>
            <a:r>
              <a:t>- Rejection filter bug fixed.</a:t>
            </a:r>
          </a:p>
          <a:p>
            <a:pPr>
              <a:defRPr sz="1600"/>
            </a:pPr>
            <a:r>
              <a:t>- Client path-parameter bug fixed.</a:t>
            </a:r>
          </a:p>
          <a:p>
            <a:pPr>
              <a:defRPr sz="1600"/>
            </a:pPr>
            <a:r>
              <a:t>- Controller generator upgraded to production-style scaffolding.</a:t>
            </a:r>
          </a:p>
          <a:p>
            <a:pPr>
              <a:defRPr sz="1600"/>
            </a:pPr>
            <a:r>
              <a:t>- Context-aware loop/arg scaffolding added.</a:t>
            </a:r>
          </a:p>
          <a:p>
            <a:pPr>
              <a:defRPr sz="1600"/>
            </a:pPr>
            <a:r>
              <a:t>- Remaining</a:t>
            </a:r>
          </a:p>
          <a:p>
            <a:pPr>
              <a:defRPr sz="1600"/>
            </a:pPr>
            <a:r>
              <a:t>- Fill vendor-specific transforms in generated controller methods.</a:t>
            </a:r>
          </a:p>
          <a:p>
            <a:pPr>
              <a:defRPr sz="1600"/>
            </a:pPr>
            <a:r>
              <a:t>- Validate dataset-level parity with SDN/Mist.pm production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16) Demo Plan for Team Meeting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Suggested Live Demo (10-12 min)</a:t>
            </a:r>
          </a:p>
          <a:p>
            <a:pPr>
              <a:defRPr sz="1600"/>
            </a:pPr>
            <a:r>
              <a:t>- 1. Show reviewed payload and rejected entries.</a:t>
            </a:r>
          </a:p>
          <a:p>
            <a:pPr>
              <a:defRPr sz="1600"/>
            </a:pPr>
            <a:r>
              <a:t>- 2. Run generation command.</a:t>
            </a:r>
          </a:p>
          <a:p>
            <a:pPr>
              <a:defRPr sz="1600"/>
            </a:pPr>
            <a:r>
              <a:t>- 3. Open generated Client and SDN files.</a:t>
            </a:r>
          </a:p>
          <a:p>
            <a:pPr>
              <a:defRPr sz="1600"/>
            </a:pPr>
            <a:r>
              <a:t>- 4. Highlight orchestration methods and context helpers.</a:t>
            </a:r>
          </a:p>
          <a:p>
            <a:pPr>
              <a:defRPr sz="1600"/>
            </a:pPr>
            <a:r>
              <a:t>- 5. Compare one method with production SDN/Mist.pm.</a:t>
            </a:r>
          </a:p>
          <a:p>
            <a:pPr>
              <a:defRPr sz="1600"/>
            </a:pPr>
            <a:r>
              <a:t>- 6. Show what remains manual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17) Rollout Strategy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Near-Term</a:t>
            </a:r>
          </a:p>
          <a:p>
            <a:pPr>
              <a:defRPr sz="1600"/>
            </a:pPr>
            <a:r>
              <a:t>- Use generated controller as structured scaffold.</a:t>
            </a:r>
          </a:p>
          <a:p>
            <a:pPr>
              <a:defRPr sz="1600"/>
            </a:pPr>
            <a:r>
              <a:t>- Implement transforms method-by-method with production parity checks.</a:t>
            </a:r>
          </a:p>
          <a:p>
            <a:pPr>
              <a:defRPr sz="1600"/>
            </a:pPr>
            <a:r>
              <a:t>- Mid-Term</a:t>
            </a:r>
          </a:p>
          <a:p>
            <a:pPr>
              <a:defRPr sz="1600"/>
            </a:pPr>
            <a:r>
              <a:t>- Add vendor-seed hooks to generator (for self/org discovery methods).</a:t>
            </a:r>
          </a:p>
          <a:p>
            <a:pPr>
              <a:defRPr sz="1600"/>
            </a:pPr>
            <a:r>
              <a:t>- Add golden payload tests for generator output stability.</a:t>
            </a:r>
          </a:p>
          <a:p>
            <a:pPr>
              <a:defRPr sz="1600"/>
            </a:pPr>
            <a:r>
              <a:t>- Long-Term</a:t>
            </a:r>
          </a:p>
          <a:p>
            <a:pPr>
              <a:defRPr sz="1600"/>
            </a:pPr>
            <a:r>
              <a:t>- Reuse workflow across Meraki, Viptela, SilverPeak, and new vendors.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18) Risks and Mitigations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Risks</a:t>
            </a:r>
          </a:p>
          <a:p>
            <a:pPr>
              <a:defRPr sz="1600"/>
            </a:pPr>
            <a:r>
              <a:t>- False-positive API matches from OpenAPI intent mapping.</a:t>
            </a:r>
          </a:p>
          <a:p>
            <a:pPr>
              <a:defRPr sz="1600"/>
            </a:pPr>
            <a:r>
              <a:t>- Payload review drift from production plugin semantics.</a:t>
            </a:r>
          </a:p>
          <a:p>
            <a:pPr>
              <a:defRPr sz="1600"/>
            </a:pPr>
            <a:r>
              <a:t>- Overconfidence in generated scaffolding.</a:t>
            </a:r>
          </a:p>
          <a:p>
            <a:pPr>
              <a:defRPr sz="1600"/>
            </a:pPr>
            <a:r>
              <a:t>- Mitigations</a:t>
            </a:r>
          </a:p>
          <a:p>
            <a:pPr>
              <a:defRPr sz="1600"/>
            </a:pPr>
            <a:r>
              <a:t>- Enforce review discipline in payload JSON.</a:t>
            </a:r>
          </a:p>
          <a:p>
            <a:pPr>
              <a:defRPr sz="1600"/>
            </a:pPr>
            <a:r>
              <a:t>- Keep rejected/disabled semantics strict.</a:t>
            </a:r>
          </a:p>
          <a:p>
            <a:pPr>
              <a:defRPr sz="1600"/>
            </a:pPr>
            <a:r>
              <a:t>- Compare generated outputs with production modules before 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19) Key Takeaways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The workflow is now review-first, deterministic, and reusable.</a:t>
            </a:r>
          </a:p>
          <a:p>
            <a:pPr>
              <a:defRPr sz="1600"/>
            </a:pPr>
            <a:r>
              <a:t>- Generator output has moved from proxy stubs to production-style scaffolding.</a:t>
            </a:r>
          </a:p>
          <a:p>
            <a:pPr>
              <a:defRPr sz="1600"/>
            </a:pPr>
            <a:r>
              <a:t>- Mist case proves the path from OpenAPI -&gt; reviewed payload -&gt; structured modules.</a:t>
            </a:r>
          </a:p>
          <a:p>
            <a:pPr>
              <a:defRPr sz="1600"/>
            </a:pPr>
            <a:r>
              <a:t>- Remaining work is business logic transformation, not plumbing.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600"/>
            </a:pPr>
            <a:r>
              <a:t>Talk track for: 20) Q&amp;A</a:t>
            </a:r>
          </a:p>
          <a:p>
            <a:pPr>
              <a:defRPr sz="1600"/>
            </a:pPr>
            <a:r>
              <a:t>Key points to cover:</a:t>
            </a:r>
          </a:p>
          <a:p>
            <a:pPr>
              <a:defRPr sz="1600"/>
            </a:pPr>
            <a:r>
              <a:t>- Appendix References</a:t>
            </a:r>
          </a:p>
          <a:p>
            <a:pPr>
              <a:defRPr sz="1600"/>
            </a:pPr>
            <a:r>
              <a:t>- docs/SDN-Agent-Workflow-Deck.md</a:t>
            </a:r>
          </a:p>
          <a:p>
            <a:pPr>
              <a:defRPr sz="1600"/>
            </a:pPr>
            <a:r>
              <a:t>- tools/openapi_codegen/WORKFLOW.md</a:t>
            </a:r>
          </a:p>
          <a:p>
            <a:pPr>
              <a:defRPr sz="1600"/>
            </a:pPr>
            <a:r>
              <a:t>- Payloads/Mist-Payload.json</a:t>
            </a:r>
          </a:p>
          <a:p>
            <a:pPr>
              <a:defRPr sz="1600"/>
            </a:pPr>
            <a:r>
              <a:t>- SDN/Mist.pm</a:t>
            </a:r>
          </a:p>
          <a:p>
            <a:pPr>
              <a:defRPr sz="1600"/>
            </a:pPr>
            <a:r>
              <a:t>- Output/SDN/Mist.pm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SDN Agent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End-to-End OpenAPI-Driven Collection Pipeline</a:t>
            </a:r>
          </a:p>
          <a:p>
            <a:pPr>
              <a:defRPr sz="2200"/>
            </a:pPr>
            <a:r>
              <a:t>Team Presentation Deck</a:t>
            </a:r>
          </a:p>
          <a:p>
            <a:pPr>
              <a:defRPr sz="2200"/>
            </a:pPr>
            <a:r>
              <a:t>• Date: 19 March 2026</a:t>
            </a:r>
          </a:p>
          <a:p>
            <a:pPr>
              <a:defRPr sz="2200"/>
            </a:pPr>
            <a:r>
              <a:t>• Scope: Mist case, reusable for all SDN vendors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1) Why This Agent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Problem</a:t>
            </a:r>
          </a:p>
          <a:p>
            <a:pPr>
              <a:defRPr sz="2200"/>
            </a:pPr>
            <a:r>
              <a:t>• Vendor SDN APIs evolve quickly.</a:t>
            </a:r>
          </a:p>
          <a:p>
            <a:pPr>
              <a:defRPr sz="2200"/>
            </a:pPr>
            <a:r>
              <a:t>• Hand-written controller/client code is expensive to maintain.</a:t>
            </a:r>
          </a:p>
          <a:p>
            <a:pPr>
              <a:defRPr sz="2200"/>
            </a:pPr>
            <a:r>
              <a:t>• Mapping plugins to APIs is hard to scale across vendors.</a:t>
            </a:r>
          </a:p>
          <a:p>
            <a:pPr>
              <a:defRPr sz="2200"/>
            </a:pPr>
            <a:r>
              <a:t>Goal</a:t>
            </a:r>
          </a:p>
          <a:p>
            <a:pPr>
              <a:defRPr sz="2200"/>
            </a:pPr>
            <a:r>
              <a:t>• Convert OpenAPI + reviewed payload into production-aligned Perl modules.</a:t>
            </a:r>
          </a:p>
          <a:p>
            <a:pPr>
              <a:defRPr sz="2200"/>
            </a:pPr>
            <a:r>
              <a:t>• Keep review and generation explicit, auditable, and repeatable.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2) 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Core Components</a:t>
            </a:r>
          </a:p>
          <a:p>
            <a:pPr>
              <a:defRPr sz="2200"/>
            </a:pPr>
            <a:r>
              <a:t>• OpenAPI input: vendor API definitions.</a:t>
            </a:r>
          </a:p>
          <a:p>
            <a:pPr>
              <a:defRPr sz="2200"/>
            </a:pPr>
            <a:r>
              <a:t>• Payload contract: reviewed API-to-plugin mapping.</a:t>
            </a:r>
          </a:p>
          <a:p>
            <a:pPr>
              <a:defRPr sz="2200"/>
            </a:pPr>
            <a:r>
              <a:t>• Code generator: creates Client and SDN controller modules.</a:t>
            </a:r>
          </a:p>
          <a:p>
            <a:pPr>
              <a:defRPr sz="2200"/>
            </a:pPr>
            <a:r>
              <a:t>• Production plugin framework: transforms and persists datasets.</a:t>
            </a:r>
          </a:p>
          <a:p>
            <a:pPr>
              <a:defRPr sz="2200"/>
            </a:pPr>
            <a:r>
              <a:t>Key Principle</a:t>
            </a:r>
          </a:p>
          <a:p>
            <a:pPr>
              <a:defRPr sz="2200"/>
            </a:pPr>
            <a:r>
              <a:t>• Separate mapping decisions from code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3) Repository Map (Relevant Paths)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OpenAPI specs:</a:t>
            </a:r>
          </a:p>
          <a:p>
            <a:pPr>
              <a:defRPr sz="2200"/>
            </a:pPr>
            <a:r>
              <a:t>- mist.openapi.json</a:t>
            </a:r>
          </a:p>
          <a:p>
            <a:pPr>
              <a:defRPr sz="2200"/>
            </a:pPr>
            <a:r>
              <a:t>- Meraki-OpenAPI.json</a:t>
            </a:r>
          </a:p>
          <a:p>
            <a:pPr>
              <a:defRPr sz="2200"/>
            </a:pPr>
            <a:r>
              <a:t>• Payloads:</a:t>
            </a:r>
          </a:p>
          <a:p>
            <a:pPr>
              <a:defRPr sz="2200"/>
            </a:pPr>
            <a:r>
              <a:t>- Payloads/Mist-Payload.json</a:t>
            </a:r>
          </a:p>
          <a:p>
            <a:pPr>
              <a:defRPr sz="2200"/>
            </a:pPr>
            <a:r>
              <a:t>• Production modules:</a:t>
            </a:r>
          </a:p>
          <a:p>
            <a:pPr>
              <a:defRPr sz="2200"/>
            </a:pPr>
            <a:r>
              <a:t>- Client/Mist.pm</a:t>
            </a:r>
          </a:p>
          <a:p>
            <a:pPr>
              <a:defRPr sz="2200"/>
            </a:pPr>
            <a:r>
              <a:t>- SDN/Mist.pm</a:t>
            </a:r>
          </a:p>
          <a:p>
            <a:pPr>
              <a:defRPr sz="2200"/>
            </a:pPr>
            <a:r>
              <a:t>• Generated output:</a:t>
            </a:r>
          </a:p>
          <a:p>
            <a:pPr>
              <a:defRPr sz="2200"/>
            </a:pPr>
            <a:r>
              <a:t>- Output/Client/Mist.pm</a:t>
            </a:r>
          </a:p>
          <a:p>
            <a:pPr>
              <a:defRPr sz="2200"/>
            </a:pPr>
            <a:r>
              <a:t>- Output/SDN/Mist.pm</a:t>
            </a:r>
          </a:p>
          <a:p>
            <a:pPr>
              <a:defRPr sz="2200"/>
            </a:pPr>
            <a:r>
              <a:t>• Generator code:</a:t>
            </a:r>
          </a:p>
          <a:p>
            <a:pPr>
              <a:defRPr sz="2200"/>
            </a:pPr>
            <a:r>
              <a:t>- tools/openapi_codegen/bin/generate_sdn_vendor_from_openapi.py</a:t>
            </a:r>
          </a:p>
          <a:p>
            <a:pPr>
              <a:defRPr sz="2200"/>
            </a:pPr>
            <a:r>
              <a:t>- tools/openapi_codegen/src/python/netmri_sdn_openapi_codegen.py</a:t>
            </a:r>
          </a:p>
          <a:p>
            <a:pPr>
              <a:defRPr sz="2200"/>
            </a:pPr>
            <a:r>
              <a:t>• Templates:</a:t>
            </a:r>
          </a:p>
          <a:p>
            <a:pPr>
              <a:defRPr sz="2200"/>
            </a:pPr>
            <a:r>
              <a:t>- tools/openapi_codegen/templates/Phase2-Client-Template.pm</a:t>
            </a:r>
          </a:p>
          <a:p>
            <a:pPr>
              <a:defRPr sz="2200"/>
            </a:pPr>
            <a:r>
              <a:t>- tools/openapi_codegen/templates/Phase2-Controller-Template.pm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4) Two-Phase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Phase 1: Payload Generation</a:t>
            </a:r>
          </a:p>
          <a:p>
            <a:pPr>
              <a:defRPr sz="2200"/>
            </a:pPr>
            <a:r>
              <a:t>• Input: OpenAPI source + vendor.</a:t>
            </a:r>
          </a:p>
          <a:p>
            <a:pPr>
              <a:defRPr sz="2200"/>
            </a:pPr>
            <a:r>
              <a:t>• Output: Payload JSON with candidate API mappings.</a:t>
            </a:r>
          </a:p>
          <a:p>
            <a:pPr>
              <a:defRPr sz="2200"/>
            </a:pPr>
            <a:r>
              <a:t>Phase 2: Module Generation</a:t>
            </a:r>
          </a:p>
          <a:p>
            <a:pPr>
              <a:defRPr sz="2200"/>
            </a:pPr>
            <a:r>
              <a:t>• Input: reviewed payload JSON.</a:t>
            </a:r>
          </a:p>
          <a:p>
            <a:pPr>
              <a:defRPr sz="2200"/>
            </a:pPr>
            <a:r>
              <a:t>• Output:</a:t>
            </a:r>
          </a:p>
          <a:p>
            <a:pPr>
              <a:defRPr sz="2200"/>
            </a:pPr>
            <a:r>
              <a:t>- Output/Client/&lt;Vendor&gt;.pm</a:t>
            </a:r>
          </a:p>
          <a:p>
            <a:pPr>
              <a:defRPr sz="2200"/>
            </a:pPr>
            <a:r>
              <a:t>- Output/SDN/&lt;Vendor&gt;.pm</a:t>
            </a:r>
          </a:p>
          <a:p>
            <a:pPr>
              <a:defRPr sz="2200"/>
            </a:pPr>
            <a:r>
              <a:t>Benefit</a:t>
            </a:r>
          </a:p>
          <a:p>
            <a:pPr>
              <a:defRPr sz="2200"/>
            </a:pPr>
            <a:r>
              <a:t>• Human review gates API selection before code emission.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5) Payload Contract Essentials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Top-Level Fields</a:t>
            </a:r>
          </a:p>
          <a:p>
            <a:pPr>
              <a:defRPr sz="2200"/>
            </a:pPr>
            <a:r>
              <a:t>• vendor</a:t>
            </a:r>
          </a:p>
          <a:p>
            <a:pPr>
              <a:defRPr sz="2200"/>
            </a:pPr>
            <a:r>
              <a:t>• pluginCalls</a:t>
            </a:r>
          </a:p>
          <a:p>
            <a:pPr>
              <a:defRPr sz="2200"/>
            </a:pPr>
            <a:r>
              <a:t>• manualReview</a:t>
            </a:r>
          </a:p>
          <a:p>
            <a:pPr>
              <a:defRPr sz="2200"/>
            </a:pPr>
            <a:r>
              <a:t>• reviewQueue</a:t>
            </a:r>
          </a:p>
          <a:p>
            <a:pPr>
              <a:defRPr sz="2200"/>
            </a:pPr>
            <a:r>
              <a:t>• stats</a:t>
            </a:r>
          </a:p>
          <a:p>
            <a:pPr>
              <a:defRPr sz="2200"/>
            </a:pPr>
            <a:r>
              <a:t>• collectionPlan</a:t>
            </a:r>
          </a:p>
          <a:p>
            <a:pPr>
              <a:defRPr sz="2200"/>
            </a:pPr>
            <a:r>
              <a:t>pluginCalls (Important Fields)</a:t>
            </a:r>
          </a:p>
          <a:p>
            <a:pPr>
              <a:defRPr sz="2200"/>
            </a:pPr>
            <a:r>
              <a:t>• operationId, method, path, parameters</a:t>
            </a:r>
          </a:p>
          <a:p>
            <a:pPr>
              <a:defRPr sz="2200"/>
            </a:pPr>
            <a:r>
              <a:t>• plugins</a:t>
            </a:r>
          </a:p>
          <a:p>
            <a:pPr>
              <a:defRPr sz="2200"/>
            </a:pPr>
            <a:r>
              <a:t>• enabled</a:t>
            </a:r>
          </a:p>
          <a:p>
            <a:pPr>
              <a:defRPr sz="2200"/>
            </a:pPr>
            <a:r>
              <a:t>• matched</a:t>
            </a:r>
          </a:p>
          <a:p>
            <a:pPr>
              <a:defRPr sz="2200"/>
            </a:pPr>
            <a:r>
              <a:t>• review: status/action/notes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6) Review Semantics (Critical)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What We Learned</a:t>
            </a:r>
          </a:p>
          <a:p>
            <a:pPr>
              <a:defRPr sz="2200"/>
            </a:pPr>
            <a:r>
              <a:t>• Rejected calls may appear as:</a:t>
            </a:r>
          </a:p>
          <a:p>
            <a:pPr>
              <a:defRPr sz="2200"/>
            </a:pPr>
            <a:r>
              <a:t>- review.action: Remove/Reject</a:t>
            </a:r>
          </a:p>
          <a:p>
            <a:pPr>
              <a:defRPr sz="2200"/>
            </a:pPr>
            <a:r>
              <a:t>- review.status: Rejected</a:t>
            </a:r>
          </a:p>
          <a:p>
            <a:pPr>
              <a:defRPr sz="2200"/>
            </a:pPr>
            <a:r>
              <a:t>Generator Fix Implemented</a:t>
            </a:r>
          </a:p>
          <a:p>
            <a:pPr>
              <a:defRPr sz="2200"/>
            </a:pPr>
            <a:r>
              <a:t>• Calls are excluded if review indicates drop/remove/reject/rejected.</a:t>
            </a:r>
          </a:p>
          <a:p>
            <a:pPr>
              <a:defRPr sz="2200"/>
            </a:pPr>
            <a:r>
              <a:t>• This now works consistently for payload-driven generation.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7) Mist Payload Example (Approved Set)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Approved Operations (Current)</a:t>
            </a:r>
          </a:p>
          <a:p>
            <a:pPr>
              <a:defRPr sz="2200"/>
            </a:pPr>
            <a:r>
              <a:t>• listInstallerSites</a:t>
            </a:r>
          </a:p>
          <a:p>
            <a:pPr>
              <a:defRPr sz="2200"/>
            </a:pPr>
            <a:r>
              <a:t>• getSiteWirelessClientStats</a:t>
            </a:r>
          </a:p>
          <a:p>
            <a:pPr>
              <a:defRPr sz="2200"/>
            </a:pPr>
            <a:r>
              <a:t>• countOrgSwOrGwPorts</a:t>
            </a:r>
          </a:p>
          <a:p>
            <a:pPr>
              <a:defRPr sz="2200"/>
            </a:pPr>
            <a:r>
              <a:t>• getOrgInventory</a:t>
            </a:r>
          </a:p>
          <a:p>
            <a:pPr>
              <a:defRPr sz="2200"/>
            </a:pPr>
            <a:r>
              <a:t>• countOrgWirelessClientsSessions</a:t>
            </a:r>
          </a:p>
          <a:p>
            <a:pPr>
              <a:defRPr sz="2200"/>
            </a:pPr>
            <a:r>
              <a:t>• getSiteAllClientsStatsByDevice</a:t>
            </a:r>
          </a:p>
          <a:p>
            <a:pPr>
              <a:defRPr sz="2200"/>
            </a:pPr>
            <a:r>
              <a:t>Rejected Calls</a:t>
            </a:r>
          </a:p>
          <a:p>
            <a:pPr>
              <a:defRPr sz="2200"/>
            </a:pPr>
            <a:r>
              <a:t>• Explicitly filtered out before module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8) Generated Client Module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Client Responsibilities</a:t>
            </a:r>
          </a:p>
          <a:p>
            <a:pPr>
              <a:defRPr sz="2200"/>
            </a:pPr>
            <a:r>
              <a:t>• Auth + base URL wiring.</a:t>
            </a:r>
          </a:p>
          <a:p>
            <a:pPr>
              <a:defRPr sz="2200"/>
            </a:pPr>
            <a:r>
              <a:t>• Operation methods for approved payload calls.</a:t>
            </a:r>
          </a:p>
          <a:p>
            <a:pPr>
              <a:defRPr sz="2200"/>
            </a:pPr>
            <a:r>
              <a:t>• Path parameter substitution.</a:t>
            </a:r>
          </a:p>
          <a:p>
            <a:pPr>
              <a:defRPr sz="2200"/>
            </a:pPr>
            <a:r>
              <a:t>• Request dispatch through Generic client.</a:t>
            </a:r>
          </a:p>
          <a:p>
            <a:pPr>
              <a:defRPr sz="2200"/>
            </a:pPr>
            <a:r>
              <a:t>Improvement Implemented</a:t>
            </a:r>
          </a:p>
          <a:p>
            <a:pPr>
              <a:defRPr sz="2200"/>
            </a:pPr>
            <a:r>
              <a:t>• Path params are required only if placeholders exist in path.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9) Controller Generation: Old vs New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Before</a:t>
            </a:r>
          </a:p>
          <a:p>
            <a:pPr>
              <a:defRPr sz="2200"/>
            </a:pPr>
            <a:r>
              <a:t>• Thin API proxy methods only.</a:t>
            </a:r>
          </a:p>
          <a:p>
            <a:pPr>
              <a:defRPr sz="2200"/>
            </a:pPr>
            <a:r>
              <a:t>• No collection orchestration.</a:t>
            </a:r>
          </a:p>
          <a:p>
            <a:pPr>
              <a:defRPr sz="2200"/>
            </a:pPr>
            <a:r>
              <a:t>• No dataset save scaffolding.</a:t>
            </a:r>
          </a:p>
          <a:p>
            <a:pPr>
              <a:defRPr sz="2200"/>
            </a:pPr>
            <a:r>
              <a:t>Now</a:t>
            </a:r>
          </a:p>
          <a:p>
            <a:pPr>
              <a:defRPr sz="2200"/>
            </a:pPr>
            <a:r>
              <a:t>• Production-style controller skeleton:</a:t>
            </a:r>
          </a:p>
          <a:p>
            <a:pPr>
              <a:defRPr sz="2200"/>
            </a:pPr>
            <a:r>
              <a:t>- obtainEverything</a:t>
            </a:r>
          </a:p>
          <a:p>
            <a:pPr>
              <a:defRPr sz="2200"/>
            </a:pPr>
            <a:r>
              <a:t>- loadSdnDevices</a:t>
            </a:r>
          </a:p>
          <a:p>
            <a:pPr>
              <a:defRPr sz="2200"/>
            </a:pPr>
            <a:r>
              <a:t>- dataset-oriented methods</a:t>
            </a:r>
          </a:p>
          <a:p>
            <a:pPr>
              <a:defRPr sz="2200"/>
            </a:pPr>
            <a:r>
              <a:t>- API helper wrappers</a:t>
            </a:r>
          </a:p>
          <a:p>
            <a:pPr>
              <a:defRPr sz="2200"/>
            </a:pPr>
            <a:r>
              <a:t>- guarded save-call scaffolding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10) Controller Scaffolding (Current)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Generated Collection Methods</a:t>
            </a:r>
          </a:p>
          <a:p>
            <a:pPr>
              <a:defRPr sz="2200"/>
            </a:pPr>
            <a:r>
              <a:t>• obtainOrganizationsAndNetworks</a:t>
            </a:r>
          </a:p>
          <a:p>
            <a:pPr>
              <a:defRPr sz="2200"/>
            </a:pPr>
            <a:r>
              <a:t>• getDevices</a:t>
            </a:r>
          </a:p>
          <a:p>
            <a:pPr>
              <a:defRPr sz="2200"/>
            </a:pPr>
            <a:r>
              <a:t>• obtainSystemInfo</a:t>
            </a:r>
          </a:p>
          <a:p>
            <a:pPr>
              <a:defRPr sz="2200"/>
            </a:pPr>
            <a:r>
              <a:t>• obtainPerformance</a:t>
            </a:r>
          </a:p>
          <a:p>
            <a:pPr>
              <a:defRPr sz="2200"/>
            </a:pPr>
            <a:r>
              <a:t>• obtainEnvironment</a:t>
            </a:r>
          </a:p>
          <a:p>
            <a:pPr>
              <a:defRPr sz="2200"/>
            </a:pPr>
            <a:r>
              <a:t>• obtainInterfaces</a:t>
            </a:r>
          </a:p>
          <a:p>
            <a:pPr>
              <a:defRPr sz="2200"/>
            </a:pPr>
            <a:r>
              <a:t>• obtainTopologyAndEndpoints</a:t>
            </a:r>
          </a:p>
          <a:p>
            <a:pPr>
              <a:defRPr sz="2200"/>
            </a:pPr>
            <a:r>
              <a:t>Generated API Helpers</a:t>
            </a:r>
          </a:p>
          <a:p>
            <a:pPr>
              <a:defRPr sz="2200"/>
            </a:pPr>
            <a:r>
              <a:t>• api_&lt;operation_method&gt;() wrappers from approved payload operations.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11) Smarter Context Scaffolding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New Context Helpers</a:t>
            </a:r>
          </a:p>
          <a:p>
            <a:pPr>
              <a:defRPr sz="2200"/>
            </a:pPr>
            <a:r>
              <a:t>• _generated_organizations()</a:t>
            </a:r>
          </a:p>
          <a:p>
            <a:pPr>
              <a:defRPr sz="2200"/>
            </a:pPr>
            <a:r>
              <a:t>• _generated_networks()</a:t>
            </a:r>
          </a:p>
          <a:p>
            <a:pPr>
              <a:defRPr sz="2200"/>
            </a:pPr>
            <a:r>
              <a:t>• _generated_extract_dn_context()</a:t>
            </a:r>
          </a:p>
          <a:p>
            <a:pPr>
              <a:defRPr sz="2200"/>
            </a:pPr>
            <a:r>
              <a:t>• _generated_api_args_from_organization()</a:t>
            </a:r>
          </a:p>
          <a:p>
            <a:pPr>
              <a:defRPr sz="2200"/>
            </a:pPr>
            <a:r>
              <a:t>• _generated_api_args_from_network()</a:t>
            </a:r>
          </a:p>
          <a:p>
            <a:pPr>
              <a:defRPr sz="2200"/>
            </a:pPr>
            <a:r>
              <a:t>• _generated_api_args_from_device()</a:t>
            </a:r>
          </a:p>
          <a:p>
            <a:pPr>
              <a:defRPr sz="2200"/>
            </a:pPr>
            <a:r>
              <a:t>Impact</a:t>
            </a:r>
          </a:p>
          <a:p>
            <a:pPr>
              <a:defRPr sz="2200"/>
            </a:pPr>
            <a:r>
              <a:t>• Generated loops now model org/site/device call patterns, not generic placeholders.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12) Production Alignment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Production Controllers (Reference)</a:t>
            </a:r>
          </a:p>
          <a:p>
            <a:pPr>
              <a:defRPr sz="2200"/>
            </a:pPr>
            <a:r>
              <a:t>• SDN/Mist.pm</a:t>
            </a:r>
          </a:p>
          <a:p>
            <a:pPr>
              <a:defRPr sz="2200"/>
            </a:pPr>
            <a:r>
              <a:t>• SDN/Meraki.pm</a:t>
            </a:r>
          </a:p>
          <a:p>
            <a:pPr>
              <a:defRPr sz="2200"/>
            </a:pPr>
            <a:r>
              <a:t>• SDN/Viptela.pm</a:t>
            </a:r>
          </a:p>
          <a:p>
            <a:pPr>
              <a:defRPr sz="2200"/>
            </a:pPr>
            <a:r>
              <a:t>Alignment Goals</a:t>
            </a:r>
          </a:p>
          <a:p>
            <a:pPr>
              <a:defRPr sz="2200"/>
            </a:pPr>
            <a:r>
              <a:t>• Keep Base framework behavior intact.</a:t>
            </a:r>
          </a:p>
          <a:p>
            <a:pPr>
              <a:defRPr sz="2200"/>
            </a:pPr>
            <a:r>
              <a:t>• Keep orchestration in controller layer.</a:t>
            </a:r>
          </a:p>
          <a:p>
            <a:pPr>
              <a:defRPr sz="2200"/>
            </a:pPr>
            <a:r>
              <a:t>• Keep API details in client layer.</a:t>
            </a:r>
          </a:p>
          <a:p>
            <a:pPr>
              <a:defRPr sz="2200"/>
            </a:pPr>
            <a:r>
              <a:t>• Keep plugin save flow explicit and testable.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13) End-to-End Command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Generate from reviewed payload</a:t>
            </a:r>
          </a:p>
          <a:p>
            <a:pPr>
              <a:defRPr sz="2200"/>
            </a:pPr>
            <a:r>
              <a:t>• /usr/local/bin/python3 tools/openapi_codegen/bin/generate_sdn_vendor_from_openapi.py --vendor Mist --payload-input Payloads/Mist-Payload.json --root .</a:t>
            </a:r>
          </a:p>
          <a:p>
            <a:pPr>
              <a:defRPr sz="2200"/>
            </a:pPr>
            <a:r>
              <a:t>Outputs</a:t>
            </a:r>
          </a:p>
          <a:p>
            <a:pPr>
              <a:defRPr sz="2200"/>
            </a:pPr>
            <a:r>
              <a:t>• Output/Client/Mist.pm</a:t>
            </a:r>
          </a:p>
          <a:p>
            <a:pPr>
              <a:defRPr sz="2200"/>
            </a:pPr>
            <a:r>
              <a:t>• Output/SDN/Mist.pm</a:t>
            </a:r>
          </a:p>
          <a:p>
            <a:pPr>
              <a:defRPr sz="2200"/>
            </a:pPr>
            <a:r>
              <a:t>Validation</a:t>
            </a:r>
          </a:p>
          <a:p>
            <a:pPr>
              <a:defRPr sz="2200"/>
            </a:pPr>
            <a:r>
              <a:t>• Parse/lint checks in editor problems.</a:t>
            </a:r>
          </a:p>
          <a:p>
            <a:pPr>
              <a:defRPr sz="2200"/>
            </a:pPr>
            <a:r>
              <a:t>• Manual comparison against production logic.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14) Quality Controls in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Guardrails</a:t>
            </a:r>
          </a:p>
          <a:p>
            <a:pPr>
              <a:defRPr sz="2200"/>
            </a:pPr>
            <a:r>
              <a:t>• Reviewed payload is the source of truth.</a:t>
            </a:r>
          </a:p>
          <a:p>
            <a:pPr>
              <a:defRPr sz="2200"/>
            </a:pPr>
            <a:r>
              <a:t>• Rejected APIs are auto-excluded.</a:t>
            </a:r>
          </a:p>
          <a:p>
            <a:pPr>
              <a:defRPr sz="2200"/>
            </a:pPr>
            <a:r>
              <a:t>• Disabled calls are ignored.</a:t>
            </a:r>
          </a:p>
          <a:p>
            <a:pPr>
              <a:defRPr sz="2200"/>
            </a:pPr>
            <a:r>
              <a:t>• Approved calls are deduplicated by operationId.</a:t>
            </a:r>
          </a:p>
          <a:p>
            <a:pPr>
              <a:defRPr sz="2200"/>
            </a:pPr>
            <a:r>
              <a:t>Engineering Review Points</a:t>
            </a:r>
          </a:p>
          <a:p>
            <a:pPr>
              <a:defRPr sz="2200"/>
            </a:pPr>
            <a:r>
              <a:t>• Operation coverage vs plugin expectations.</a:t>
            </a:r>
          </a:p>
          <a:p>
            <a:pPr>
              <a:defRPr sz="2200"/>
            </a:pPr>
            <a:r>
              <a:t>• Dataset transform correctness.</a:t>
            </a:r>
          </a:p>
          <a:p>
            <a:pPr>
              <a:defRPr sz="2200"/>
            </a:pPr>
            <a:r>
              <a:t>• Save method mapping correctness.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15) Current Status (Mist)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Completed</a:t>
            </a:r>
          </a:p>
          <a:p>
            <a:pPr>
              <a:defRPr sz="2200"/>
            </a:pPr>
            <a:r>
              <a:t>• Rejection filter bug fixed.</a:t>
            </a:r>
          </a:p>
          <a:p>
            <a:pPr>
              <a:defRPr sz="2200"/>
            </a:pPr>
            <a:r>
              <a:t>• Client path-parameter bug fixed.</a:t>
            </a:r>
          </a:p>
          <a:p>
            <a:pPr>
              <a:defRPr sz="2200"/>
            </a:pPr>
            <a:r>
              <a:t>• Controller generator upgraded to production-style scaffolding.</a:t>
            </a:r>
          </a:p>
          <a:p>
            <a:pPr>
              <a:defRPr sz="2200"/>
            </a:pPr>
            <a:r>
              <a:t>• Context-aware loop/arg scaffolding added.</a:t>
            </a:r>
          </a:p>
          <a:p>
            <a:pPr>
              <a:defRPr sz="2200"/>
            </a:pPr>
            <a:r>
              <a:t>Remaining</a:t>
            </a:r>
          </a:p>
          <a:p>
            <a:pPr>
              <a:defRPr sz="2200"/>
            </a:pPr>
            <a:r>
              <a:t>• Fill vendor-specific transforms in generated controller methods.</a:t>
            </a:r>
          </a:p>
          <a:p>
            <a:pPr>
              <a:defRPr sz="2200"/>
            </a:pPr>
            <a:r>
              <a:t>• Validate dataset-level parity with SDN/Mist.pm production behavior.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16) Demo Plan for Team Meeting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Suggested Live Demo (10-12 min)</a:t>
            </a:r>
          </a:p>
          <a:p>
            <a:pPr>
              <a:defRPr sz="2200"/>
            </a:pPr>
            <a:r>
              <a:t>1. Show reviewed payload and rejected entries.</a:t>
            </a:r>
          </a:p>
          <a:p>
            <a:pPr>
              <a:defRPr sz="2200"/>
            </a:pPr>
            <a:r>
              <a:t>2. Run generation command.</a:t>
            </a:r>
          </a:p>
          <a:p>
            <a:pPr>
              <a:defRPr sz="2200"/>
            </a:pPr>
            <a:r>
              <a:t>3. Open generated Client and SDN files.</a:t>
            </a:r>
          </a:p>
          <a:p>
            <a:pPr>
              <a:defRPr sz="2200"/>
            </a:pPr>
            <a:r>
              <a:t>4. Highlight orchestration methods and context helpers.</a:t>
            </a:r>
          </a:p>
          <a:p>
            <a:pPr>
              <a:defRPr sz="2200"/>
            </a:pPr>
            <a:r>
              <a:t>5. Compare one method with production SDN/Mist.pm.</a:t>
            </a:r>
          </a:p>
          <a:p>
            <a:pPr>
              <a:defRPr sz="2200"/>
            </a:pPr>
            <a:r>
              <a:t>6. Show what remains manual and why.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17) Rollout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Near-Term</a:t>
            </a:r>
          </a:p>
          <a:p>
            <a:pPr>
              <a:defRPr sz="2200"/>
            </a:pPr>
            <a:r>
              <a:t>• Use generated controller as structured scaffold.</a:t>
            </a:r>
          </a:p>
          <a:p>
            <a:pPr>
              <a:defRPr sz="2200"/>
            </a:pPr>
            <a:r>
              <a:t>• Implement transforms method-by-method with production parity checks.</a:t>
            </a:r>
          </a:p>
          <a:p>
            <a:pPr>
              <a:defRPr sz="2200"/>
            </a:pPr>
            <a:r>
              <a:t>Mid-Term</a:t>
            </a:r>
          </a:p>
          <a:p>
            <a:pPr>
              <a:defRPr sz="2200"/>
            </a:pPr>
            <a:r>
              <a:t>• Add vendor-seed hooks to generator (for self/org discovery methods).</a:t>
            </a:r>
          </a:p>
          <a:p>
            <a:pPr>
              <a:defRPr sz="2200"/>
            </a:pPr>
            <a:r>
              <a:t>• Add golden payload tests for generator output stability.</a:t>
            </a:r>
          </a:p>
          <a:p>
            <a:pPr>
              <a:defRPr sz="2200"/>
            </a:pPr>
            <a:r>
              <a:t>Long-Term</a:t>
            </a:r>
          </a:p>
          <a:p>
            <a:pPr>
              <a:defRPr sz="2200"/>
            </a:pPr>
            <a:r>
              <a:t>• Reuse workflow across Meraki, Viptela, SilverPeak, and new vendors.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18) 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Risks</a:t>
            </a:r>
          </a:p>
          <a:p>
            <a:pPr>
              <a:defRPr sz="2200"/>
            </a:pPr>
            <a:r>
              <a:t>• False-positive API matches from OpenAPI intent mapping.</a:t>
            </a:r>
          </a:p>
          <a:p>
            <a:pPr>
              <a:defRPr sz="2200"/>
            </a:pPr>
            <a:r>
              <a:t>• Payload review drift from production plugin semantics.</a:t>
            </a:r>
          </a:p>
          <a:p>
            <a:pPr>
              <a:defRPr sz="2200"/>
            </a:pPr>
            <a:r>
              <a:t>• Overconfidence in generated scaffolding.</a:t>
            </a:r>
          </a:p>
          <a:p>
            <a:pPr>
              <a:defRPr sz="2200"/>
            </a:pPr>
            <a:r>
              <a:t>Mitigations</a:t>
            </a:r>
          </a:p>
          <a:p>
            <a:pPr>
              <a:defRPr sz="2200"/>
            </a:pPr>
            <a:r>
              <a:t>• Enforce review discipline in payload JSON.</a:t>
            </a:r>
          </a:p>
          <a:p>
            <a:pPr>
              <a:defRPr sz="2200"/>
            </a:pPr>
            <a:r>
              <a:t>• Keep rejected/disabled semantics strict.</a:t>
            </a:r>
          </a:p>
          <a:p>
            <a:pPr>
              <a:defRPr sz="2200"/>
            </a:pPr>
            <a:r>
              <a:t>• Compare generated outputs with production modules before merge.</a:t>
            </a:r>
          </a:p>
          <a:p>
            <a:pPr>
              <a:defRPr sz="2200"/>
            </a:pPr>
            <a:r>
              <a:t>• Add integration tests on transformed datasets.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19)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The workflow is now review-first, deterministic, and reusable.</a:t>
            </a:r>
          </a:p>
          <a:p>
            <a:pPr>
              <a:defRPr sz="2200"/>
            </a:pPr>
            <a:r>
              <a:t>• Generator output has moved from proxy stubs to production-style scaffolding.</a:t>
            </a:r>
          </a:p>
          <a:p>
            <a:pPr>
              <a:defRPr sz="2200"/>
            </a:pPr>
            <a:r>
              <a:t>• Mist case proves the path from OpenAPI -&gt; reviewed payload -&gt; structured modules.</a:t>
            </a:r>
          </a:p>
          <a:p>
            <a:pPr>
              <a:defRPr sz="2200"/>
            </a:pPr>
            <a:r>
              <a:t>• Remaining work is business logic transformation, not plumbing.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/>
            </a:pPr>
            <a:r>
              <a:t>20)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Appendix References</a:t>
            </a:r>
          </a:p>
          <a:p>
            <a:pPr>
              <a:defRPr sz="2200"/>
            </a:pPr>
            <a:r>
              <a:t>• docs/SDN-Agent-Workflow-Deck.md</a:t>
            </a:r>
          </a:p>
          <a:p>
            <a:pPr>
              <a:defRPr sz="2200"/>
            </a:pPr>
            <a:r>
              <a:t>• tools/openapi_codegen/WORKFLOW.md</a:t>
            </a:r>
          </a:p>
          <a:p>
            <a:pPr>
              <a:defRPr sz="2200"/>
            </a:pPr>
            <a:r>
              <a:t>• Payloads/Mist-Payload.json</a:t>
            </a:r>
          </a:p>
          <a:p>
            <a:pPr>
              <a:defRPr sz="2200"/>
            </a:pPr>
            <a:r>
              <a:t>• SDN/Mist.pm</a:t>
            </a:r>
          </a:p>
          <a:p>
            <a:pPr>
              <a:defRPr sz="2200"/>
            </a:pPr>
            <a:r>
              <a:t>• Output/SDN/Mist.pm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